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3" d="100"/>
          <a:sy n="43" d="100"/>
        </p:scale>
        <p:origin x="84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6241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Grupo IASA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empresas, un equipo, un mismo método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" y="1133856"/>
            <a:ext cx="1124712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" y="1371600"/>
            <a:ext cx="11274552" cy="1280160"/>
          </a:xfrm>
          <a:prstGeom prst="rect">
            <a:avLst/>
          </a:prstGeom>
          <a:solidFill>
            <a:srgbClr val="EEEEE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" y="1371600"/>
            <a:ext cx="91440" cy="1280160"/>
          </a:xfrm>
          <a:prstGeom prst="rect">
            <a:avLst/>
          </a:prstGeom>
          <a:solidFill>
            <a:srgbClr val="2C5F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69308" y="1408176"/>
            <a:ext cx="41026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C5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ALEMANA — GRUPO IASA
</a:t>
            </a: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técnico, comercial y de gestión a todo el ecosistema
</a:t>
            </a:r>
            <a:r>
              <a:rPr lang="en-US" sz="105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Liderazgo: Evandro Hennemann  ·  </a:t>
            </a:r>
          </a:p>
          <a:p>
            <a:pPr marL="0" indent="0" algn="ctr">
              <a:buNone/>
            </a:pPr>
            <a:r>
              <a:rPr lang="en-US" sz="1050" i="1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Jachim</a:t>
            </a:r>
            <a:r>
              <a:rPr lang="en-US" sz="105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Vogdt</a:t>
            </a:r>
            <a:r>
              <a:rPr lang="en-US" sz="105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Carolina Casanova</a:t>
            </a:r>
            <a:endParaRPr lang="en-US" sz="1700" dirty="0">
              <a:solidFill>
                <a:schemeClr val="tx2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80760" y="2651760"/>
            <a:ext cx="0" cy="274320"/>
          </a:xfrm>
          <a:prstGeom prst="line">
            <a:avLst/>
          </a:prstGeom>
          <a:noFill/>
          <a:ln w="12700">
            <a:solidFill>
              <a:srgbClr val="838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72284" y="2926080"/>
            <a:ext cx="7616952" cy="0"/>
          </a:xfrm>
          <a:prstGeom prst="line">
            <a:avLst/>
          </a:prstGeom>
          <a:noFill/>
          <a:ln w="12700">
            <a:solidFill>
              <a:srgbClr val="838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72284" y="2926080"/>
            <a:ext cx="0" cy="274320"/>
          </a:xfrm>
          <a:prstGeom prst="line">
            <a:avLst/>
          </a:prstGeom>
          <a:noFill/>
          <a:ln w="12700">
            <a:solidFill>
              <a:srgbClr val="838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2926080"/>
            <a:ext cx="0" cy="274320"/>
          </a:xfrm>
          <a:prstGeom prst="line">
            <a:avLst/>
          </a:prstGeom>
          <a:noFill/>
          <a:ln w="12700">
            <a:solidFill>
              <a:srgbClr val="838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89236" y="2926080"/>
            <a:ext cx="0" cy="274320"/>
          </a:xfrm>
          <a:prstGeom prst="line">
            <a:avLst/>
          </a:prstGeom>
          <a:noFill/>
          <a:ln w="12700">
            <a:solidFill>
              <a:srgbClr val="838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" y="3200400"/>
            <a:ext cx="36576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484" y="3200400"/>
            <a:ext cx="3657600" cy="164592"/>
          </a:xfrm>
          <a:prstGeom prst="rect">
            <a:avLst/>
          </a:prstGeom>
          <a:solidFill>
            <a:srgbClr val="2C5F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20724" y="35204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PROIECTA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220724" y="38862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civil y diseño industrial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2084" y="42519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para entornos medioambientales complejos. Especialidades civiles y estructurales.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3484" y="4690872"/>
            <a:ext cx="3657600" cy="384048"/>
          </a:xfrm>
          <a:prstGeom prst="rect">
            <a:avLst/>
          </a:prstGeom>
          <a:solidFill>
            <a:srgbClr val="E5ED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" y="469087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Javier Medina  ·  Nicolás Curkovic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51960" y="3200400"/>
            <a:ext cx="36576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51960" y="3200400"/>
            <a:ext cx="3657600" cy="164592"/>
          </a:xfrm>
          <a:prstGeom prst="rect">
            <a:avLst/>
          </a:prstGeom>
          <a:solidFill>
            <a:srgbClr val="0F96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35204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9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PROAMBIENTE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5029200" y="38862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ambiental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480560" y="42519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Auditorías, seguimiento ambiental, estudios y coordinación con laboratorios. Tramitación SEIA.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251960" y="4690872"/>
            <a:ext cx="3657600" cy="384048"/>
          </a:xfrm>
          <a:prstGeom prst="rect">
            <a:avLst/>
          </a:prstGeom>
          <a:solidFill>
            <a:srgbClr val="DEF1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80560" y="469087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9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Joachim Vogdt  ·  Yamina Pérez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060436" y="3200400"/>
            <a:ext cx="36576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60436" y="3200400"/>
            <a:ext cx="3657600" cy="164592"/>
          </a:xfrm>
          <a:prstGeom prst="rect">
            <a:avLst/>
          </a:prstGeom>
          <a:solidFill>
            <a:srgbClr val="B661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37676" y="35204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6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PROCEANIC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8837676" y="38862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del mar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289036" y="42519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Obras marítimas, dragados, emisarios submarinos, borde costero y puertos.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060436" y="4690872"/>
            <a:ext cx="3657600" cy="384048"/>
          </a:xfrm>
          <a:prstGeom prst="rect">
            <a:avLst/>
          </a:prstGeom>
          <a:solidFill>
            <a:srgbClr val="F4E5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89036" y="469087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6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Pastene  ·  Miguel Cadenasso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43484" y="5111496"/>
            <a:ext cx="11274552" cy="132588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6364" y="530352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5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TÉCNICO SENIOR — recurso compartido del Grupo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672084" y="5532120"/>
            <a:ext cx="10817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Ingenieros y jefes de proyecto · Dibujantes proyectistas · Calidad · Administración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72084" y="5728716"/>
            <a:ext cx="3514344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Fonseca</a:t>
            </a: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Jefe de Proyectos · Ing. Civil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277868" y="5728716"/>
            <a:ext cx="3514344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Catherine Vielma</a:t>
            </a: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Jefe de Proyecto · Ing. Civil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883652" y="5728716"/>
            <a:ext cx="3514344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Abraham Medina</a:t>
            </a: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Ing. Proyectos y Propuestas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72084" y="5920740"/>
            <a:ext cx="3514344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Arriagada</a:t>
            </a: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Ingeniero de Proyecto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277868" y="5920740"/>
            <a:ext cx="3514344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Nelson Ojeda</a:t>
            </a: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Ingeniero Ambiental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883652" y="5920740"/>
            <a:ext cx="3514344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Tania Armijo</a:t>
            </a: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Dibujante Proyectista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72084" y="6112764"/>
            <a:ext cx="3514344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Riquelme</a:t>
            </a: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Dibujante Proyectista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277868" y="6112764"/>
            <a:ext cx="3514344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Maryelin Lucero</a:t>
            </a: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Analista Contable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7883652" y="6112764"/>
            <a:ext cx="3514344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Claudina Páez</a:t>
            </a: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Asistente Administración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57200" y="6629400"/>
            <a:ext cx="11274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interno · Mayo 2026 · v0.1</a:t>
            </a:r>
            <a:endParaRPr lang="en-US" sz="850" dirty="0"/>
          </a:p>
        </p:txBody>
      </p:sp>
      <p:sp>
        <p:nvSpPr>
          <p:cNvPr id="51" name="Shape 0">
            <a:extLst>
              <a:ext uri="{FF2B5EF4-FFF2-40B4-BE49-F238E27FC236}">
                <a16:creationId xmlns:a16="http://schemas.microsoft.com/office/drawing/2014/main" id="{8D6E2B19-32E1-4762-BF7D-503D11BA60E5}"/>
              </a:ext>
            </a:extLst>
          </p:cNvPr>
          <p:cNvSpPr/>
          <p:nvPr/>
        </p:nvSpPr>
        <p:spPr>
          <a:xfrm>
            <a:off x="0" y="0"/>
            <a:ext cx="3047238" cy="164592"/>
          </a:xfrm>
          <a:prstGeom prst="rect">
            <a:avLst/>
          </a:prstGeom>
          <a:solidFill>
            <a:srgbClr val="0F9649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52" name="Shape 1">
            <a:extLst>
              <a:ext uri="{FF2B5EF4-FFF2-40B4-BE49-F238E27FC236}">
                <a16:creationId xmlns:a16="http://schemas.microsoft.com/office/drawing/2014/main" id="{B7F3B488-82C2-415D-A722-5F67BE5CB20E}"/>
              </a:ext>
            </a:extLst>
          </p:cNvPr>
          <p:cNvSpPr/>
          <p:nvPr/>
        </p:nvSpPr>
        <p:spPr>
          <a:xfrm>
            <a:off x="3047238" y="0"/>
            <a:ext cx="3047238" cy="164592"/>
          </a:xfrm>
          <a:prstGeom prst="rect">
            <a:avLst/>
          </a:prstGeom>
          <a:solidFill>
            <a:srgbClr val="2C5FA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3" name="Shape 2">
            <a:extLst>
              <a:ext uri="{FF2B5EF4-FFF2-40B4-BE49-F238E27FC236}">
                <a16:creationId xmlns:a16="http://schemas.microsoft.com/office/drawing/2014/main" id="{EBC11BDC-E890-48ED-9C74-469C3BEB289B}"/>
              </a:ext>
            </a:extLst>
          </p:cNvPr>
          <p:cNvSpPr/>
          <p:nvPr/>
        </p:nvSpPr>
        <p:spPr>
          <a:xfrm>
            <a:off x="6094476" y="0"/>
            <a:ext cx="3047238" cy="164592"/>
          </a:xfrm>
          <a:prstGeom prst="rect">
            <a:avLst/>
          </a:prstGeom>
          <a:solidFill>
            <a:srgbClr val="B6612A"/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66" name="Shape 3">
            <a:extLst>
              <a:ext uri="{FF2B5EF4-FFF2-40B4-BE49-F238E27FC236}">
                <a16:creationId xmlns:a16="http://schemas.microsoft.com/office/drawing/2014/main" id="{B325F855-9691-4C26-B69B-BCA0D3B257F4}"/>
              </a:ext>
            </a:extLst>
          </p:cNvPr>
          <p:cNvSpPr/>
          <p:nvPr/>
        </p:nvSpPr>
        <p:spPr>
          <a:xfrm>
            <a:off x="9141714" y="0"/>
            <a:ext cx="3047238" cy="164592"/>
          </a:xfrm>
          <a:prstGeom prst="rect">
            <a:avLst/>
          </a:prstGeom>
          <a:solidFill>
            <a:srgbClr val="F2C811"/>
          </a:solidFill>
          <a:ln w="12700">
            <a:solidFill>
              <a:srgbClr val="FFC0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164592"/>
          </a:xfrm>
          <a:prstGeom prst="rect">
            <a:avLst/>
          </a:prstGeom>
          <a:solidFill>
            <a:srgbClr val="0F9649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164592"/>
          </a:xfrm>
          <a:prstGeom prst="rect">
            <a:avLst/>
          </a:prstGeom>
          <a:solidFill>
            <a:srgbClr val="2C5FA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164592"/>
          </a:xfrm>
          <a:prstGeom prst="rect">
            <a:avLst/>
          </a:prstGeom>
          <a:solidFill>
            <a:srgbClr val="B6612A"/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164592"/>
          </a:xfrm>
          <a:prstGeom prst="rect">
            <a:avLst/>
          </a:prstGeom>
          <a:solidFill>
            <a:srgbClr val="F2C811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Grupo IASA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radial — IASA al centro, las tres empresas operativas en órbita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39351" y="3699151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Alemana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 flipV="1">
            <a:off x="6734556" y="2587752"/>
            <a:ext cx="738835" cy="704088"/>
          </a:xfrm>
          <a:prstGeom prst="line">
            <a:avLst/>
          </a:prstGeom>
          <a:noFill/>
          <a:ln w="15240">
            <a:solidFill>
              <a:srgbClr val="838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95390" y="4279392"/>
            <a:ext cx="914" cy="978408"/>
          </a:xfrm>
          <a:prstGeom prst="line">
            <a:avLst/>
          </a:prstGeom>
          <a:noFill/>
          <a:ln w="15240">
            <a:solidFill>
              <a:srgbClr val="838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 flipV="1">
            <a:off x="4715561" y="2587752"/>
            <a:ext cx="738835" cy="704088"/>
          </a:xfrm>
          <a:prstGeom prst="line">
            <a:avLst/>
          </a:prstGeom>
          <a:noFill/>
          <a:ln w="15240">
            <a:solidFill>
              <a:srgbClr val="838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53351" y="1627632"/>
            <a:ext cx="1920240" cy="1920240"/>
          </a:xfrm>
          <a:prstGeom prst="ellipse">
            <a:avLst/>
          </a:prstGeom>
          <a:solidFill>
            <a:srgbClr val="E5EDF7"/>
          </a:solidFill>
          <a:ln w="19050">
            <a:solidFill>
              <a:srgbClr val="2C5F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2224" y="2154555"/>
            <a:ext cx="1645920" cy="1440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5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PROIECTA
</a:t>
            </a:r>
            <a:r>
              <a:rPr lang="en-US" sz="95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civil y diseño
industrial
</a:t>
            </a:r>
            <a:r>
              <a:rPr lang="en-US" sz="900" b="1" dirty="0">
                <a:solidFill>
                  <a:srgbClr val="2C5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Javier Medina</a:t>
            </a:r>
            <a:endParaRPr lang="en-US" sz="15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C5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Nicolás Curkovic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135270" y="4709160"/>
            <a:ext cx="1920240" cy="1920240"/>
          </a:xfrm>
          <a:prstGeom prst="ellipse">
            <a:avLst/>
          </a:prstGeom>
          <a:solidFill>
            <a:srgbClr val="DEF1E3"/>
          </a:solidFill>
          <a:ln w="19050">
            <a:solidFill>
              <a:srgbClr val="0F96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73344" y="5275952"/>
            <a:ext cx="1645920" cy="1440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9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PROAMBIENTE
</a:t>
            </a:r>
            <a:r>
              <a:rPr lang="en-US" sz="95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ambiental
</a:t>
            </a:r>
            <a:r>
              <a:rPr lang="en-US" sz="900" b="1" dirty="0">
                <a:solidFill>
                  <a:srgbClr val="0F9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Joachim Vogdt</a:t>
            </a:r>
            <a:endParaRPr lang="en-US" sz="15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F9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Yamina Pérez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115361" y="1627632"/>
            <a:ext cx="1920240" cy="1920240"/>
          </a:xfrm>
          <a:prstGeom prst="ellipse">
            <a:avLst/>
          </a:prstGeom>
          <a:solidFill>
            <a:srgbClr val="F4E5D6"/>
          </a:solidFill>
          <a:ln w="19050">
            <a:solidFill>
              <a:srgbClr val="B661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52521" y="2219706"/>
            <a:ext cx="1645920" cy="1440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6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PROCEANIC
</a:t>
            </a:r>
            <a:r>
              <a:rPr lang="en-US" sz="95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del mar
</a:t>
            </a:r>
            <a:r>
              <a:rPr lang="en-US" sz="900" b="1" dirty="0">
                <a:solidFill>
                  <a:srgbClr val="B6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Pastene</a:t>
            </a:r>
            <a:endParaRPr lang="en-US" sz="15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B66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Miguel Cadenasso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2252114" y="3684089"/>
            <a:ext cx="2743200" cy="77724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52114" y="3684089"/>
            <a:ext cx="73152" cy="777240"/>
          </a:xfrm>
          <a:prstGeom prst="rect">
            <a:avLst/>
          </a:prstGeom>
          <a:solidFill>
            <a:srgbClr val="2C5F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34994" y="3729809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5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técnica
</a:t>
            </a: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senior compartido, dibujo, calidad, ingeniería de respaldo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247435" y="4651469"/>
            <a:ext cx="2743200" cy="77724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47435" y="4651469"/>
            <a:ext cx="73152" cy="777240"/>
          </a:xfrm>
          <a:prstGeom prst="rect">
            <a:avLst/>
          </a:prstGeom>
          <a:solidFill>
            <a:srgbClr val="2C5F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30315" y="4697189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5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comercial
</a:t>
            </a: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Marca, web, presencia gremial, desarrollo de negocios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879384" y="3717036"/>
            <a:ext cx="2743200" cy="77724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79384" y="3717036"/>
            <a:ext cx="73152" cy="777240"/>
          </a:xfrm>
          <a:prstGeom prst="rect">
            <a:avLst/>
          </a:prstGeom>
          <a:solidFill>
            <a:srgbClr val="2C5F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62264" y="3762756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5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gestión
</a:t>
            </a: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Backoffice, facturación, flujo de caja, contratos, SGC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879384" y="4821576"/>
            <a:ext cx="2743200" cy="77724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79384" y="4821576"/>
            <a:ext cx="73152" cy="777240"/>
          </a:xfrm>
          <a:prstGeom prst="rect">
            <a:avLst/>
          </a:prstGeom>
          <a:solidFill>
            <a:srgbClr val="2C5F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62264" y="4867296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5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digital
</a:t>
            </a: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GWS, e-mail corporativo, Odoo, herramientas colaborativas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6629400"/>
            <a:ext cx="11274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interno · Mayo 2026 · v0.1</a:t>
            </a:r>
            <a:endParaRPr lang="en-US" sz="850" dirty="0"/>
          </a:p>
        </p:txBody>
      </p:sp>
      <p:pic>
        <p:nvPicPr>
          <p:cNvPr id="44" name="Imagen 43">
            <a:extLst>
              <a:ext uri="{FF2B5EF4-FFF2-40B4-BE49-F238E27FC236}">
                <a16:creationId xmlns:a16="http://schemas.microsoft.com/office/drawing/2014/main" id="{3A3F5B3E-2BEF-4B68-BF43-FF9C7D90A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721" y="2628705"/>
            <a:ext cx="1920240" cy="18655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310</Words>
  <Application>Microsoft Office PowerPoint</Application>
  <PresentationFormat>Panorámica</PresentationFormat>
  <Paragraphs>45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Ecosistema Grupo IASA</dc:title>
  <dc:subject>PptxGenJS Presentation</dc:subject>
  <dc:creator>PptxGenJS</dc:creator>
  <cp:lastModifiedBy>Carolina Casanova</cp:lastModifiedBy>
  <cp:revision>3</cp:revision>
  <dcterms:created xsi:type="dcterms:W3CDTF">2026-05-06T15:22:50Z</dcterms:created>
  <dcterms:modified xsi:type="dcterms:W3CDTF">2026-05-11T13:33:24Z</dcterms:modified>
</cp:coreProperties>
</file>